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2.jpg"/><Relationship Id="rId7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workspace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FINAL PROJECT · AI CONTENT PRODUCTION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F2FE"/>
                </a:solidFill>
                <a:latin typeface="Space Grotesk"/>
              </a:rPr>
              <a:t>NEURALIS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8FAFC"/>
                </a:solidFill>
                <a:latin typeface="Space Grotesk"/>
              </a:rPr>
              <a:t>CONTENTFLOW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BD5E1"/>
                </a:solidFill>
                <a:latin typeface="Inter"/>
              </a:rPr>
              <a:t>An end-to-end, AI-powered content system for a focus-tech brand: from strategy to a full week of blog, social, image, video and voice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8FAFC"/>
                </a:solidFill>
                <a:latin typeface="Space Grotesk"/>
              </a:rPr>
              <a:t>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4A3B8"/>
                </a:solidFill>
                <a:latin typeface="Inter"/>
              </a:rPr>
              <a:t>Yapay Zeka ile İçerik Üretimi Eğitimi — Final Projesi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Inter"/>
              </a:rPr>
              <a:t>NEURALIS is a fictional concept brand.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01 · BRAND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The brief &amp; 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8FAFC"/>
                </a:solidFill>
                <a:latin typeface="Inter"/>
              </a:rPr>
              <a:t>A software company wants to reduce its marketing team's weekly content workload and keep its brand voice consistent across every channel.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F8FAFC"/>
                </a:solidFill>
                <a:latin typeface="Inter"/>
              </a:rPr>
              <a:t>Goal: </a:t>
            </a:r>
            <a:r>
              <a:rPr sz="1500" b="0" i="0">
                <a:solidFill>
                  <a:srgbClr val="CBD5E1"/>
                </a:solidFill>
                <a:latin typeface="Inter"/>
              </a:rPr>
              <a:t>design an end-to-end content system with AI tools: strategy → calendar → text, image, video and voice →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002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288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THE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94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0F2FE"/>
                </a:solidFill>
                <a:latin typeface="Space Grotesk"/>
              </a:rPr>
              <a:t>NEURALIS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7432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8FAFC"/>
                </a:solidFill>
                <a:latin typeface="Inter"/>
              </a:rPr>
              <a:t>Neuro-adaptive focus audio for knowledge workers.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Inter"/>
              </a:rPr>
              <a:t>Sector  </a:t>
            </a:r>
            <a:r>
              <a:rPr sz="1400" b="0" i="0">
                <a:solidFill>
                  <a:srgbClr val="F8FAFC"/>
                </a:solidFill>
                <a:latin typeface="Inter"/>
              </a:rPr>
              <a:t>Cognitive wellness tech · Productivity SaaS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Inter"/>
              </a:rPr>
              <a:t>Model  </a:t>
            </a:r>
            <a:r>
              <a:rPr sz="1400" b="0" i="0">
                <a:solidFill>
                  <a:srgbClr val="F8FAFC"/>
                </a:solidFill>
                <a:latin typeface="Inter"/>
              </a:rPr>
              <a:t>B2C subscription · B2B team plans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4A3B8"/>
                </a:solidFill>
                <a:latin typeface="Inter"/>
              </a:rPr>
              <a:t>Promise  </a:t>
            </a:r>
            <a:r>
              <a:rPr sz="1400" b="1" i="0">
                <a:solidFill>
                  <a:srgbClr val="F8FAFC"/>
                </a:solidFill>
                <a:latin typeface="Inter"/>
              </a:rPr>
              <a:t>Focus, by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POSITIONING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F8FAFC"/>
                </a:solidFill>
                <a:latin typeface="Inter"/>
              </a:rPr>
              <a:t>For knowledge workers who lose their best hours to constant switching, NEURALIS is the focus-audio platform that adapts to how you work, not just what time it is, so deep work becomes the default, not a fight.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01 · COMPETITOR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Four competitors, one clear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51760" cy="352044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8FAFC"/>
                </a:solidFill>
                <a:latin typeface="Space Grotesk"/>
              </a:rPr>
              <a:t>Brain.fm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pace Grotesk"/>
              </a:rPr>
              <a:t>DOES 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Functional music. Publishes peer-reviewed research.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03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Space Grotesk"/>
              </a:rP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776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Sessions are chosen manually. Sound doesn't react to what you're doing.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600200"/>
            <a:ext cx="2651760" cy="352044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828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8FAFC"/>
                </a:solidFill>
                <a:latin typeface="Space Grotesk"/>
              </a:rPr>
              <a:t>Endel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2316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pace Grotesk"/>
              </a:rPr>
              <a:t>DOES WELL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69748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Adapts to time of day, weather and heart rate. Strong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703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Space Grotesk"/>
              </a:rPr>
              <a:t>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9776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Broad wellbeing focus. No work-context signals, no team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600200"/>
            <a:ext cx="2651760" cy="352044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828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8FAFC"/>
                </a:solidFill>
                <a:latin typeface="Space Grotesk"/>
              </a:rPr>
              <a:t>Focus@Will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2316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pace Grotesk"/>
              </a:rPr>
              <a:t>DOES WELL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69748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Curated focus-music channels by listener 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03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Space Grotesk"/>
              </a:rPr>
              <a:t>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9776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Static playlists, little personalisation.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600200"/>
            <a:ext cx="2651760" cy="352044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8288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8FAFC"/>
                </a:solidFill>
                <a:latin typeface="Space Grotesk"/>
              </a:rPr>
              <a:t>Freedom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42316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pace Grotesk"/>
              </a:rPr>
              <a:t>DOES WELL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269748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Cross-device app &amp; site blocking. Clear value.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7033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Space Grotesk"/>
              </a:rP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39776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Only removes distractions. Doesn't improve the working state.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F2FE"/>
                </a:solidFill>
                <a:latin typeface="Inter"/>
              </a:rPr>
              <a:t>NEURALIS opportunity → </a:t>
            </a:r>
            <a:r>
              <a:rPr sz="1500" b="0" i="0">
                <a:solidFill>
                  <a:srgbClr val="F8FAFC"/>
                </a:solidFill>
                <a:latin typeface="Inter"/>
              </a:rPr>
              <a:t>audio that adapts to work-context signals (typing cadence, session phase, calendar load), plus a team layer for B2B.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01 · BRAND IDENTITY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Identity: calm, precise, evidence-first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Inter"/>
              </a:rPr>
              <a:t>Evidence over hype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874519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874519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Inter"/>
              </a:rPr>
              <a:t>Calm over urgency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Inter"/>
              </a:rPr>
              <a:t>Sustainable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874519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19"/>
            <a:ext cx="1691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F8FAFC"/>
                </a:solidFill>
                <a:latin typeface="Inter"/>
              </a:rPr>
              <a:t>Respect for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PALETTE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1234440" cy="822960"/>
          </a:xfrm>
          <a:prstGeom prst="roundRect">
            <a:avLst>
              <a:gd name="adj" fmla="val 12000"/>
            </a:avLst>
          </a:prstGeom>
          <a:solidFill>
            <a:srgbClr val="0B0F1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Space Grotesk"/>
              </a:rPr>
              <a:t>#0B0F14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044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Obsidian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788920"/>
            <a:ext cx="1234440" cy="822960"/>
          </a:xfrm>
          <a:prstGeom prst="roundRect">
            <a:avLst>
              <a:gd name="adj" fmla="val 12000"/>
            </a:avLst>
          </a:prstGeom>
          <a:solidFill>
            <a:srgbClr val="00F2FE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6758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Space Grotesk"/>
              </a:rPr>
              <a:t>#00F2FE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9044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Synapse Cyan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788920"/>
            <a:ext cx="1234440" cy="82296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6758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Space Grotesk"/>
              </a:rPr>
              <a:t>#10B981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044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Bio-Emerald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788920"/>
            <a:ext cx="1234440" cy="82296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6758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Space Grotesk"/>
              </a:rPr>
              <a:t>#8B5CF6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044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Pulse Violet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788920"/>
            <a:ext cx="123444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6758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FAFC"/>
                </a:solidFill>
                <a:latin typeface="Space Grotesk"/>
              </a:rPr>
              <a:t>#F8FAFC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904487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Neural White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TYPOGRAPHY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8FAFC"/>
                </a:solidFill>
                <a:latin typeface="Space Grotesk"/>
              </a:rPr>
              <a:t>Space Grotesk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20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Headlines · technical, precise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663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F8FAFC"/>
                </a:solidFill>
                <a:latin typeface="Inter"/>
              </a:rPr>
              <a:t>Inter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120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Body · high legibility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6583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Inter"/>
              </a:rPr>
              <a:t>Visual style  </a:t>
            </a:r>
            <a:r>
              <a:rPr sz="1100" b="0" i="0">
                <a:solidFill>
                  <a:srgbClr val="F8FAFC"/>
                </a:solidFill>
                <a:latin typeface="Inter"/>
              </a:rPr>
              <a:t>dark cyber-minimal UI, one soundwave motif, soft volumetric light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87171"/>
                </a:solidFill>
                <a:latin typeface="Inter"/>
              </a:rPr>
              <a:t>Avoid  </a:t>
            </a:r>
            <a:r>
              <a:rPr sz="1100" b="0" i="0">
                <a:solidFill>
                  <a:srgbClr val="F8FAFC"/>
                </a:solidFill>
                <a:latin typeface="Inter"/>
              </a:rPr>
              <a:t>clinical imagery, robot clichés, neon clutter, real brand logos</a:t>
            </a:r>
          </a:p>
        </p:txBody>
      </p:sp>
      <p:pic>
        <p:nvPicPr>
          <p:cNvPr id="37" name="Picture 36" descr="brainwave-synapses.jpg"/>
          <p:cNvPicPr>
            <a:picLocks noChangeAspect="1"/>
          </p:cNvPicPr>
          <p:nvPr/>
        </p:nvPicPr>
        <p:blipFill>
          <a:blip r:embed="rId2"/>
          <a:srcRect l="4700" r="4700"/>
          <a:stretch>
            <a:fillRect/>
          </a:stretch>
        </p:blipFill>
        <p:spPr>
          <a:xfrm>
            <a:off x="7498079" y="1600200"/>
            <a:ext cx="414223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02 · AUDIENCE &amp;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Why · Who · What ·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0F2FE"/>
                </a:solidFill>
                <a:latin typeface="Space Grotesk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Inter"/>
              </a:rPr>
              <a:t>Attention is the scarcest resource in modern work. We exist to protect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60020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8288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B981"/>
                </a:solidFill>
                <a:latin typeface="Space Grotesk"/>
              </a:rP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377440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Inter"/>
              </a:rPr>
              <a:t>Engineers, analysts, designers and founders doing 4+ hours of demanding screen work a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8B5CF6"/>
                </a:solidFill>
                <a:latin typeface="Space Grotesk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Inter"/>
              </a:rPr>
              <a:t>Adaptive focus audio + session insights that help people enter and sustain deep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931920"/>
            <a:ext cx="3200400" cy="219456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1605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59E0B"/>
                </a:solidFill>
                <a:latin typeface="Space Grotesk"/>
              </a:rPr>
              <a:t>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709159"/>
            <a:ext cx="2697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Inter"/>
              </a:rPr>
              <a:t>Evidence-based, calm and precise communication. Never hype, never hustle.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600200"/>
            <a:ext cx="4325112" cy="2194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C"/>
                </a:solidFill>
                <a:latin typeface="Space Grotesk"/>
              </a:rPr>
              <a:t>Deniz,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488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F2FE"/>
                </a:solidFill>
                <a:latin typeface="Inter"/>
              </a:rPr>
              <a:t>Senior Software Engineer · 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4688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Pain: pings and meetings fragment the day; foggy by 4 pm.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Goal: two protected 90-min deep-work blocks a day.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LinkedIn · X · Hacker News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4325112" cy="21945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114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8FAFC"/>
                </a:solidFill>
                <a:latin typeface="Space Grotesk"/>
              </a:rPr>
              <a:t>Selin,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80559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F2FE"/>
                </a:solidFill>
                <a:latin typeface="Inter"/>
              </a:rPr>
              <a:t>Startup Co-founder · B2B buyer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0060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Pain: decision fatigue; a team that's always on and always tired.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Goal: a sustainable focus culture for the whole team.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LinkedIn · newsletters · podcasts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02 · ONE-PAGE BRAND VOICE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Voice: "a calm neuroscientist who also ships software"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06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694944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2651760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Trait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We sound like…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We never sound like…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Evidence-based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"A 2005 field study found interrupted work took ~25 min to resume."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"Scientists PROVE this frequency makes you 10x smarter."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Precise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Short sentences. Numbers only when sourced.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Ornamental paragraphs, vague buzzwords.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Calm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Reassuring, low-pressure CTAs.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FOMO, countdowns, "Don't miss out!!!"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Humane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Rest is part of performance.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"Sleep is for the weak." "Grind harder."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00200"/>
            <a:ext cx="3913632" cy="18288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830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pace Grotesk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574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deep work · focus · research suggests · designed to support ·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60604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87171"/>
                </a:solidFill>
                <a:latin typeface="Space Grotesk"/>
              </a:rPr>
              <a:t>AVOID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8803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Inter"/>
              </a:rPr>
              <a:t>miracle · hack your brain · 10x · cures · grind · hustle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611880"/>
            <a:ext cx="3913632" cy="25603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79476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5 HARD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11480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>1  No medical claims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>2  No unsourced statistics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>3  Hedge emerging science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>4  No artist / voice imitation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8FAFC"/>
                </a:solidFill>
                <a:latin typeface="Inter"/>
              </a:rPr>
              <a:t>5  No real brand marks in visuals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03 · CONTENT PILLARS &amp; 7-DAY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One week, one arc: trust → value → product →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C"/>
                </a:solidFill>
                <a:latin typeface="Inter"/>
              </a:rPr>
              <a:t>1 · Science of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00F2FE"/>
                </a:solidFill>
                <a:latin typeface="Space Grotesk"/>
              </a:rPr>
              <a:t>35%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55448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5544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C"/>
                </a:solidFill>
                <a:latin typeface="Inter"/>
              </a:rPr>
              <a:t>2 · Deep Work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10B981"/>
                </a:solidFill>
                <a:latin typeface="Space Grotesk"/>
              </a:rPr>
              <a:t>30%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55448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544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C"/>
                </a:solidFill>
                <a:latin typeface="Inter"/>
              </a:rPr>
              <a:t>3 · Inside NEURALIS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8B5CF6"/>
                </a:solidFill>
                <a:latin typeface="Space Grotesk"/>
              </a:rPr>
              <a:t>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554480"/>
            <a:ext cx="2651760" cy="6858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1554480"/>
            <a:ext cx="17373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AFC"/>
                </a:solidFill>
                <a:latin typeface="Inter"/>
              </a:rPr>
              <a:t>4 · Sustainable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6" y="15544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1" i="0">
                <a:solidFill>
                  <a:srgbClr val="F59E0B"/>
                </a:solidFill>
                <a:latin typeface="Space Grotesk"/>
              </a:rPr>
              <a:t>15%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423160"/>
          <a:ext cx="11091672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834640"/>
                <a:gridCol w="4206240"/>
                <a:gridCol w="313639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Day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Channel · Format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Topic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Why today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Mon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LinkedIn · RTF post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The real cost of a "quick question"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Planning day: open to systems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Tue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Instagram · 5-slide carousel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Your brain at work: beta, alpha, theta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Saveable explainer builds authority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0F2FE"/>
                          </a:solidFill>
                          <a:latin typeface="Inter"/>
                        </a:rPr>
                        <a:t>Wed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Blog · SEO article (hub)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Cognitive fatigue isn't a willpower problem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Evergreen hub mid-week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Thu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X · 6-post thread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Why your focus playlist stops working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Tech audience rewards depth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Fri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Reels / Shorts · 18 s video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Your focus isn't broken. It's overloaded.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Meets the Friday energy dip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Sat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Audio · TTS voiceover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The One-Minute Neural Reset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Weekend recovery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Sun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Email · weekly digest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Three rules for a clearer Monday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Closes the weekly loop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Full calendar with personas, rationale and KPI targets: content-calendar.xlsx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03 · BLOG POST · CO-STAR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SEO blog: honest science, practical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08 / 12</a:t>
            </a:r>
          </a:p>
        </p:txBody>
      </p:sp>
      <p:pic>
        <p:nvPicPr>
          <p:cNvPr id="6" name="Picture 5" descr="hero-workspace.jpg"/>
          <p:cNvPicPr>
            <a:picLocks noChangeAspect="1"/>
          </p:cNvPicPr>
          <p:nvPr/>
        </p:nvPicPr>
        <p:blipFill>
          <a:blip r:embed="rId2"/>
          <a:srcRect l="1628" r="1628"/>
          <a:stretch>
            <a:fillRect/>
          </a:stretch>
        </p:blipFill>
        <p:spPr>
          <a:xfrm>
            <a:off x="548640" y="1600200"/>
            <a:ext cx="4754880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526280"/>
            <a:ext cx="4754880" cy="164592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SEO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4297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Primary keyword  </a:t>
            </a:r>
            <a:r>
              <a:rPr sz="1100" b="1" i="0">
                <a:solidFill>
                  <a:srgbClr val="00F2FE"/>
                </a:solidFill>
                <a:latin typeface="Inter"/>
              </a:rPr>
              <a:t>cognitive fatigue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Secondary  </a:t>
            </a:r>
            <a:r>
              <a:rPr sz="1100" b="0" i="0">
                <a:solidFill>
                  <a:srgbClr val="F8FAFC"/>
                </a:solidFill>
                <a:latin typeface="Inter"/>
              </a:rPr>
              <a:t>deep work · context switching · focus music · binaural beats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Length  </a:t>
            </a:r>
            <a:r>
              <a:rPr sz="1100" b="0" i="0">
                <a:solidFill>
                  <a:srgbClr val="F8FAFC"/>
                </a:solidFill>
                <a:latin typeface="Inter"/>
              </a:rPr>
              <a:t>~1,050 words · 6 H2s · 1 table · 4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00200"/>
            <a:ext cx="5943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C"/>
                </a:solidFill>
                <a:latin typeface="Space Grotesk"/>
              </a:rPr>
              <a:t>Cognitive Fatigue Isn't a Willpower Problem: How Sound Can Help You Get Back to Deep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69748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94A3B8"/>
                </a:solidFill>
                <a:latin typeface="Inter"/>
              </a:rPr>
              <a:t>Meta: Cognitive fatigue isn't a lack of discipline. It's what constant switching does to your attention. Here's what research says, plus three habits to start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520440"/>
            <a:ext cx="5943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0F2FE"/>
                </a:solidFill>
                <a:latin typeface="Inter"/>
              </a:rPr>
              <a:t>→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Interrupted work took ~25 min on average to resume (Mark et al., 2005)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0F2FE"/>
                </a:solidFill>
                <a:latin typeface="Inter"/>
              </a:rPr>
              <a:t>→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Every task switch has a measurable cost (Rubinstein et al., 2001)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0F2FE"/>
                </a:solidFill>
                <a:latin typeface="Inter"/>
              </a:rPr>
              <a:t>→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Focus-sound evidence is promising, not settled (meta-analysis, 2019)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00F2FE"/>
                </a:solidFill>
                <a:latin typeface="Inter"/>
              </a:rPr>
              <a:t>→ </a:t>
            </a:r>
            <a:r>
              <a:rPr sz="1300" b="0" i="0">
                <a:solidFill>
                  <a:srgbClr val="F8FAFC"/>
                </a:solidFill>
                <a:latin typeface="Inter"/>
              </a:rPr>
              <a:t>3 habits: batch interruptions · one 90-min block · steady soundscape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5257800"/>
            <a:ext cx="5971032" cy="9144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5349240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8FAFC"/>
                </a:solidFill>
                <a:latin typeface="Inter"/>
              </a:rPr>
              <a:t>Sources: Mark, González &amp; Harris (2005) · Rubinstein, Meyer &amp; Evans (2001) · Garcia-Argibay et al. (2019) · Woods et al. (2024)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Includes a "not a medical device" disclaimer.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03 · 3 SOCIAL POSTS · RTF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Social: one idea per platform, written with RTF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93592" cy="45720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Space Grotesk"/>
              </a:rP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00F2FE"/>
                </a:solidFill>
                <a:latin typeface="Inter"/>
              </a:rPr>
              <a:t>Mon · Deep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R  Evidence-driven thought leader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T  Hidden cost of context switching; only the verified 25-min fact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F  Hook · 3 paragraphs · question · 3 hashtags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A "quick question" is never quick for the person answering it.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When work was interrupted, it took around 25 minutes on average to get back to it. (Mark et al., CHI 2005)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What's one rule your team uses to protect deep work?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00200"/>
            <a:ext cx="3593592" cy="45720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83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Space Grotesk"/>
              </a:rPr>
              <a:t>Instagram carousel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148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00F2FE"/>
                </a:solidFill>
                <a:latin typeface="Inter"/>
              </a:rPr>
              <a:t>Tue · Science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51460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26060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R  NEURALIS science editor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T  Explain beta / alpha / theta as associations, not switches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F  5 slides · hook ≤ 8 words · caption + save 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93192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1  Your brain at work, in 3 states.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2  BETA ~13–30 Hz: alert, effortful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3  ALPHA ~8–12 Hz: relaxed wakefulness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4  THETA ~4–7 Hz: drifting, associative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5  Focus = fewer interruptions, so your brain can settle.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00200"/>
            <a:ext cx="3593592" cy="457200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783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AFC"/>
                </a:solidFill>
                <a:latin typeface="Space Grotesk"/>
              </a:rPr>
              <a:t>X / Twitter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1488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00F2FE"/>
                </a:solidFill>
                <a:latin typeface="Inter"/>
              </a:rPr>
              <a:t>Thu ·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9" y="2514600"/>
            <a:ext cx="3227832" cy="123444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26060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R  Senior engineer &amp; community lead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T  Why static playlists fade; cite 2019 meta-analysis; hedge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0B981"/>
                </a:solidFill>
                <a:latin typeface="Consolas"/>
              </a:rPr>
              <a:t>F  6 posts · ≤ 280 chars · no hashtags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93192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1/6 Your focus playlist works great for 20 minutes. Then you start skipping tracks…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4/6 A 2019 meta-analysis of 22 studies found a moderate effect, but results varied a lot…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5/6 So NEURALIS adapts instead of promising a magic frequency.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03 · IMAGES, VIDEO &amp; VOICEOVER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Images, an 18 s video and a TTS voiceover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10 / 12</a:t>
            </a:r>
          </a:p>
        </p:txBody>
      </p:sp>
      <p:pic>
        <p:nvPicPr>
          <p:cNvPr id="6" name="neuralis-teaser-9x1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554480"/>
            <a:ext cx="2724912" cy="4846320"/>
          </a:xfrm>
          <a:prstGeom prst="rect">
            <a:avLst/>
          </a:prstGeom>
        </p:spPr>
      </p:pic>
      <p:pic>
        <p:nvPicPr>
          <p:cNvPr id="7" name="Picture 6" descr="hero-workspace.jpg"/>
          <p:cNvPicPr>
            <a:picLocks noChangeAspect="1"/>
          </p:cNvPicPr>
          <p:nvPr/>
        </p:nvPicPr>
        <p:blipFill>
          <a:blip r:embed="rId5"/>
          <a:srcRect l="1163" r="1163"/>
          <a:stretch>
            <a:fillRect/>
          </a:stretch>
        </p:blipFill>
        <p:spPr>
          <a:xfrm>
            <a:off x="3611880" y="1554480"/>
            <a:ext cx="256032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11880" y="30632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Hero · 16:9</a:t>
            </a:r>
          </a:p>
        </p:txBody>
      </p:sp>
      <p:pic>
        <p:nvPicPr>
          <p:cNvPr id="9" name="Picture 8" descr="brainwave-synapses.jpg"/>
          <p:cNvPicPr>
            <a:picLocks noChangeAspect="1"/>
          </p:cNvPicPr>
          <p:nvPr/>
        </p:nvPicPr>
        <p:blipFill>
          <a:blip r:embed="rId6"/>
          <a:srcRect t="21429" b="21429"/>
          <a:stretch>
            <a:fillRect/>
          </a:stretch>
        </p:blipFill>
        <p:spPr>
          <a:xfrm>
            <a:off x="6309360" y="1554480"/>
            <a:ext cx="256032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0632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Brainwave · 1:1</a:t>
            </a:r>
          </a:p>
        </p:txBody>
      </p:sp>
      <p:pic>
        <p:nvPicPr>
          <p:cNvPr id="11" name="Picture 10" descr="product-mobile-concept.jpg"/>
          <p:cNvPicPr>
            <a:picLocks noChangeAspect="1"/>
          </p:cNvPicPr>
          <p:nvPr/>
        </p:nvPicPr>
        <p:blipFill>
          <a:blip r:embed="rId7"/>
          <a:srcRect t="21429" b="21429"/>
          <a:stretch>
            <a:fillRect/>
          </a:stretch>
        </p:blipFill>
        <p:spPr>
          <a:xfrm>
            <a:off x="9006840" y="1554480"/>
            <a:ext cx="256032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6840" y="306324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Inter"/>
              </a:rPr>
              <a:t>Product · 1:1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11880" y="3429000"/>
          <a:ext cx="802843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91840"/>
                <a:gridCol w="382219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F2FE"/>
                          </a:solidFill>
                          <a:latin typeface="Space Grotesk"/>
                        </a:rPr>
                        <a:t>Time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F2FE"/>
                          </a:solidFill>
                          <a:latin typeface="Space Grotesk"/>
                        </a:rPr>
                        <a:t>On-screen text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00F2FE"/>
                          </a:solidFill>
                          <a:latin typeface="Space Grotesk"/>
                        </a:rPr>
                        <a:t>Voiceover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Inter"/>
                        </a:rPr>
                        <a:t>0–5 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YOUR FOCUS ISN'T BROKEN.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"…It's overloaded."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Inter"/>
                        </a:rPr>
                        <a:t>5–10 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SILENCE THE NOISE.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"Give your mind one thing to hold."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Inter"/>
                        </a:rPr>
                        <a:t>10–15 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SOUND THAT ADAPTS TO YOU.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"…shapes sound around the way you work."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AFC"/>
                          </a:solidFill>
                          <a:latin typeface="Inter"/>
                        </a:rPr>
                        <a:t>15–18 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NEURALIS · Focus, by design.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BD5E1"/>
                          </a:solidFill>
                          <a:latin typeface="Inter"/>
                        </a:rPr>
                        <a:t>"Neuralis. Focus, by design."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611880" y="5212080"/>
            <a:ext cx="8028431" cy="1188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5321808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8FAFC"/>
                </a:solidFill>
                <a:latin typeface="Space Grotesk"/>
              </a:rPr>
              <a:t>🔊  The One-Minute Neural Reset</a:t>
            </a:r>
            <a:r>
              <a:rPr sz="1000" b="0" i="0">
                <a:solidFill>
                  <a:srgbClr val="94A3B8"/>
                </a:solidFill>
                <a:latin typeface="Inter"/>
              </a:rPr>
              <a:t>   49.6 s · Piper neural TTS (en_US-ryan-high) · ambient bed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BD5E1"/>
                </a:solidFill>
                <a:latin typeface="Inter"/>
              </a:rPr>
              <a:t>"You are not failing at focus. You are carrying too much at once. So for the next minute… carry less."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59E0B"/>
                </a:solidFill>
                <a:latin typeface="Inter"/>
              </a:rPr>
              <a:t>[ add neural-reset-voiceover.mp3 here in Canva 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STAGE 04 · COPYRIGHT &amp; HALLUCINATION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Review: what the AI got wrong, and how it was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11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97480"/>
                <a:gridCol w="2331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First draft said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0F2FE"/>
                          </a:solidFill>
                          <a:latin typeface="Space Grotesk"/>
                        </a:rPr>
                        <a:t>Fix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A222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"23 min 15 s to refocus"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59E0B"/>
                          </a:solidFill>
                          <a:latin typeface="Inter"/>
                        </a:rPr>
                        <a:t>Interview figure, not the paper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Peer-reviewed ~25 min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"2.1 hours lost per day"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Inter"/>
                        </a:rPr>
                        <a:t>No source exists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"40% more fatigue &amp; errors"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Inter"/>
                        </a:rPr>
                        <a:t>Distorted estimate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"Alpha state in 15 minutes"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Inter"/>
                        </a:rPr>
                        <a:t>Unsupported claim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Hedged wording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Hinted at ADHD / anxiety help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87171"/>
                          </a:solidFill>
                          <a:latin typeface="Inter"/>
                        </a:rPr>
                        <a:t>Medical claim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Removed + disclaimer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Hero image v1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59E0B"/>
                          </a:solidFill>
                          <a:latin typeface="Inter"/>
                        </a:rPr>
                        <a:t>Real brand logo on monitor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Regenerated, no logos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0B0F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Inter"/>
                        </a:rPr>
                        <a:t>Voice dataset CC BY-NC-SA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59E0B"/>
                          </a:solidFill>
                          <a:latin typeface="Inter"/>
                        </a:rPr>
                        <a:t>Non-commercial licence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BD5E1"/>
                          </a:solidFill>
                          <a:latin typeface="Inter"/>
                        </a:rPr>
                        <a:t>Documented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rgbClr val="263040"/>
                      </a:solidFill>
                    </a:lnL>
                    <a:lnR w="6350" cmpd="sng">
                      <a:solidFill>
                        <a:srgbClr val="263040"/>
                      </a:solidFill>
                    </a:lnR>
                    <a:lnT w="6350" cmpd="sng">
                      <a:solidFill>
                        <a:srgbClr val="263040"/>
                      </a:solidFill>
                    </a:lnT>
                    <a:lnB w="6350" cmpd="sng">
                      <a:solidFill>
                        <a:srgbClr val="263040"/>
                      </a:solidFill>
                    </a:lnB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600200"/>
            <a:ext cx="3090672" cy="1078992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91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59E0B"/>
                </a:solidFill>
                <a:latin typeface="Space Grotes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585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issues found &amp;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807208"/>
            <a:ext cx="3090672" cy="1078992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89864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7171"/>
                </a:solidFill>
                <a:latin typeface="Space Grotesk"/>
              </a:rPr>
              <a:t>4 /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4655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draft statistics failed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14216"/>
            <a:ext cx="3090672" cy="1078992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105656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0B981"/>
                </a:solidFill>
                <a:latin typeface="Space Grotesk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67258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Inter"/>
              </a:rPr>
              <a:t>unsourced numbers in final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5257800"/>
            <a:ext cx="3090672" cy="91440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5321808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AFC"/>
                </a:solidFill>
                <a:latin typeface="Inter"/>
              </a:rPr>
              <a:t>4 checks per piece: tone · keyword · copyright ·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F2FE"/>
                </a:solidFill>
                <a:latin typeface="Space Grotesk"/>
              </a:rPr>
              <a:t>PROCESS TRANSPARENCY · AI USAGE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8FAFC"/>
                </a:solidFill>
                <a:latin typeface="Space Grotesk"/>
              </a:rPr>
              <a:t>Toolchain, the key lesson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Space Grotesk"/>
              </a:rPr>
              <a:t>NEURALIS · CONTENTFLOW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pace Grotesk"/>
              </a:rP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F2FE"/>
                </a:solidFill>
                <a:latin typeface="Space Grotesk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Gemini (draft) → Claude (revision &amp; fact-check) via Antigravity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60020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Space Grotesk"/>
              </a:rPr>
              <a:t>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0574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Antigravity built-in image generation (Google model)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60020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737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B5CF6"/>
                </a:solidFill>
                <a:latin typeface="Space Grotesk"/>
              </a:rP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5740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Piper neural TTS, offline &amp; open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9E0B"/>
                </a:solidFill>
                <a:latin typeface="Space Grotesk"/>
              </a:rPr>
              <a:t>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FFmpeg, fully scripted in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83464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F2FE"/>
                </a:solidFill>
                <a:latin typeface="Space Grotesk"/>
              </a:rPr>
              <a:t>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2918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Python + openpyxl → .xlsx / 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834640"/>
            <a:ext cx="2377440" cy="1097280"/>
          </a:xfrm>
          <a:prstGeom prst="roundRect">
            <a:avLst>
              <a:gd name="adj" fmla="val 6000"/>
            </a:avLst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718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B981"/>
                </a:solidFill>
                <a:latin typeface="Space Grotesk"/>
              </a:rPr>
              <a:t>Fact-check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291840"/>
            <a:ext cx="2057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BD5E1"/>
                </a:solidFill>
                <a:latin typeface="Inter"/>
              </a:rPr>
              <a:t>Primary sources (DOIs) via web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1600200"/>
            <a:ext cx="3456432" cy="233172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830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MOST EFFECTIVE PROMPT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03120"/>
            <a:ext cx="30632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8FAFC"/>
                </a:solidFill>
                <a:latin typeface="Inter"/>
              </a:rPr>
              <a:t>Adding a source whitelist: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0B981"/>
                </a:solidFill>
                <a:latin typeface="Consolas"/>
              </a:rPr>
              <a:t>"Verified sources you MAY use: … Do NOT introduce other statistics."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8FAFC"/>
                </a:solidFill>
                <a:latin typeface="Inter"/>
              </a:rPr>
              <a:t>This stopped the model from inventing numbers.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F2FE"/>
                </a:solidFill>
                <a:latin typeface="Space Grotesk"/>
              </a:rPr>
              <a:t>AUTOMATION DESIGN (OPTIONAL PRACTICE)</a:t>
            </a:r>
          </a:p>
        </p:txBody>
      </p:sp>
      <p:sp>
        <p:nvSpPr>
          <p:cNvPr id="28" name="Pentagon 27"/>
          <p:cNvSpPr/>
          <p:nvPr/>
        </p:nvSpPr>
        <p:spPr>
          <a:xfrm>
            <a:off x="548640" y="4526280"/>
            <a:ext cx="2103120" cy="868680"/>
          </a:xfrm>
          <a:prstGeom prst="homePlate">
            <a:avLst/>
          </a:prstGeom>
          <a:solidFill>
            <a:srgbClr val="121820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52628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Calendar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(Sheets)</a:t>
            </a:r>
          </a:p>
        </p:txBody>
      </p:sp>
      <p:sp>
        <p:nvSpPr>
          <p:cNvPr id="30" name="Chevron 29"/>
          <p:cNvSpPr/>
          <p:nvPr/>
        </p:nvSpPr>
        <p:spPr>
          <a:xfrm>
            <a:off x="2788920" y="4526280"/>
            <a:ext cx="2103120" cy="868680"/>
          </a:xfrm>
          <a:prstGeom prst="chevron">
            <a:avLst/>
          </a:prstGeom>
          <a:solidFill>
            <a:srgbClr val="121820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52628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AI draft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+ images</a:t>
            </a:r>
          </a:p>
        </p:txBody>
      </p:sp>
      <p:sp>
        <p:nvSpPr>
          <p:cNvPr id="32" name="Chevron 31"/>
          <p:cNvSpPr/>
          <p:nvPr/>
        </p:nvSpPr>
        <p:spPr>
          <a:xfrm>
            <a:off x="5029200" y="4526280"/>
            <a:ext cx="2103120" cy="868680"/>
          </a:xfrm>
          <a:prstGeom prst="chevron">
            <a:avLst/>
          </a:prstGeom>
          <a:solidFill>
            <a:srgbClr val="121820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52628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Auto checks</a:t>
            </a:r>
          </a:p>
        </p:txBody>
      </p:sp>
      <p:sp>
        <p:nvSpPr>
          <p:cNvPr id="34" name="Chevron 33"/>
          <p:cNvSpPr/>
          <p:nvPr/>
        </p:nvSpPr>
        <p:spPr>
          <a:xfrm>
            <a:off x="7269480" y="4526280"/>
            <a:ext cx="2103120" cy="868680"/>
          </a:xfrm>
          <a:prstGeom prst="chevron">
            <a:avLst/>
          </a:prstGeom>
          <a:solidFill>
            <a:srgbClr val="121820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52628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Slack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approval</a:t>
            </a:r>
          </a:p>
        </p:txBody>
      </p:sp>
      <p:sp>
        <p:nvSpPr>
          <p:cNvPr id="36" name="Chevron 35"/>
          <p:cNvSpPr/>
          <p:nvPr/>
        </p:nvSpPr>
        <p:spPr>
          <a:xfrm>
            <a:off x="9509760" y="4526280"/>
            <a:ext cx="2103120" cy="868680"/>
          </a:xfrm>
          <a:prstGeom prst="chevron">
            <a:avLst/>
          </a:prstGeom>
          <a:solidFill>
            <a:srgbClr val="121820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526280"/>
            <a:ext cx="1508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Buffer /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8FAFC"/>
                </a:solidFill>
                <a:latin typeface="Inter"/>
              </a:rPr>
              <a:t>Meta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1A222D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23560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F2FE"/>
                </a:solidFill>
                <a:latin typeface="Inter"/>
              </a:rPr>
              <a:t>GitHub  </a:t>
            </a:r>
            <a:r>
              <a:rPr sz="1300" b="0" i="0">
                <a:solidFill>
                  <a:srgbClr val="F8FAFC"/>
                </a:solidFill>
                <a:latin typeface="Consolas"/>
              </a:rPr>
              <a:t>github.com/hazalakks/neuralis-contentflow</a:t>
            </a:r>
            <a:r>
              <a:rPr sz="1100" b="0" i="0">
                <a:solidFill>
                  <a:srgbClr val="94A3B8"/>
                </a:solidFill>
                <a:latin typeface="Inter"/>
              </a:rPr>
              <a:t>      Full docs, prompt library, review log &amp; reproducible media 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